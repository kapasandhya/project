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886C2-0907-4AEB-97D9-0AE08B083D9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86A0B-0475-41CE-8FF5-112B5976B55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886C2-0907-4AEB-97D9-0AE08B083D9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86A0B-0475-41CE-8FF5-112B5976B55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886C2-0907-4AEB-97D9-0AE08B083D9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86A0B-0475-41CE-8FF5-112B5976B55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886C2-0907-4AEB-97D9-0AE08B083D9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86A0B-0475-41CE-8FF5-112B5976B55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886C2-0907-4AEB-97D9-0AE08B083D9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86A0B-0475-41CE-8FF5-112B5976B55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886C2-0907-4AEB-97D9-0AE08B083D9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86A0B-0475-41CE-8FF5-112B5976B55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886C2-0907-4AEB-97D9-0AE08B083D9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86A0B-0475-41CE-8FF5-112B5976B55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886C2-0907-4AEB-97D9-0AE08B083D9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86A0B-0475-41CE-8FF5-112B5976B55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886C2-0907-4AEB-97D9-0AE08B083D9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86A0B-0475-41CE-8FF5-112B5976B55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886C2-0907-4AEB-97D9-0AE08B083D9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86A0B-0475-41CE-8FF5-112B5976B55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886C2-0907-4AEB-97D9-0AE08B083D9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C86A0B-0475-41CE-8FF5-112B5976B55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B0F886C2-0907-4AEB-97D9-0AE08B083D97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D3C86A0B-0475-41CE-8FF5-112B5976B55F}" type="slidenum">
              <a:rPr lang="en-IN" smtClean="0"/>
              <a:t>‹#›</a:t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</a:t>
            </a:r>
            <a:r>
              <a:rPr lang="en-US" dirty="0" err="1" smtClean="0"/>
              <a:t>Sandhya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Analyzing Data of </a:t>
            </a:r>
            <a:r>
              <a:rPr lang="en-US" dirty="0" err="1" smtClean="0"/>
              <a:t>resturent</a:t>
            </a:r>
            <a:r>
              <a:rPr lang="en-US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5340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This schema provides a streamlined foundation for a restaurant management system by interconnecting four essential operational pillars: </a:t>
            </a:r>
            <a:r>
              <a:rPr lang="en-US" b="1" dirty="0" smtClean="0"/>
              <a:t>Tables</a:t>
            </a:r>
            <a:r>
              <a:rPr lang="en-US" dirty="0" smtClean="0"/>
              <a:t> (physical capacity and availability), </a:t>
            </a:r>
            <a:r>
              <a:rPr lang="en-US" b="1" dirty="0" smtClean="0"/>
              <a:t>Menu</a:t>
            </a:r>
            <a:r>
              <a:rPr lang="en-US" dirty="0" smtClean="0"/>
              <a:t> (food details and pricing), </a:t>
            </a:r>
            <a:r>
              <a:rPr lang="en-US" b="1" dirty="0" smtClean="0"/>
              <a:t>Staff</a:t>
            </a:r>
            <a:r>
              <a:rPr lang="en-US" dirty="0" smtClean="0"/>
              <a:t> (employee roles and contact info), and </a:t>
            </a:r>
            <a:r>
              <a:rPr lang="en-US" b="1" dirty="0" smtClean="0"/>
              <a:t>Orders</a:t>
            </a:r>
            <a:r>
              <a:rPr lang="en-US" dirty="0" smtClean="0"/>
              <a:t> (the central transaction log). By utilizing foreign keys in the Orders table, the database ensures structural integrity, allowing you to track exactly which waiter served a specific dish to a specific table at any given 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889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1. Tables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This table manages the </a:t>
            </a:r>
            <a:r>
              <a:rPr lang="en-US" b="1" dirty="0" smtClean="0"/>
              <a:t>physical seating</a:t>
            </a:r>
            <a:r>
              <a:rPr lang="en-US" dirty="0" smtClean="0"/>
              <a:t> within the restaurant.</a:t>
            </a:r>
          </a:p>
          <a:p>
            <a:r>
              <a:rPr lang="en-US" b="1" dirty="0" smtClean="0"/>
              <a:t>Purpose:</a:t>
            </a:r>
            <a:r>
              <a:rPr lang="en-US" dirty="0" smtClean="0"/>
              <a:t> It tracks how many people can sit at a specific table and what its current state is.</a:t>
            </a:r>
          </a:p>
          <a:p>
            <a:r>
              <a:rPr lang="en-US" b="1" dirty="0" smtClean="0"/>
              <a:t>Key Logic:</a:t>
            </a:r>
            <a:r>
              <a:rPr lang="en-US" dirty="0" smtClean="0"/>
              <a:t> It uses a CHECK constraint to ensure seating stays between 1 and 12, and limits the status to specific values like 'Available' or 'Occupied'.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0086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2. Menu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This serves as the </a:t>
            </a:r>
            <a:r>
              <a:rPr lang="en-US" b="1" dirty="0" smtClean="0"/>
              <a:t>product catalog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Purpose:</a:t>
            </a:r>
            <a:r>
              <a:rPr lang="en-US" dirty="0" smtClean="0"/>
              <a:t> It lists everything the restaurant sells, categorized by type (Appetizer, Dessert, etc.).</a:t>
            </a:r>
          </a:p>
          <a:p>
            <a:r>
              <a:rPr lang="en-US" b="1" dirty="0" smtClean="0"/>
              <a:t>Key Logic:</a:t>
            </a:r>
            <a:r>
              <a:rPr lang="en-US" dirty="0" smtClean="0"/>
              <a:t> It ensures prices are always positive and includes a BOOLEAN flag (</a:t>
            </a:r>
            <a:r>
              <a:rPr lang="en-US" dirty="0" err="1" smtClean="0"/>
              <a:t>is_vegetarian</a:t>
            </a:r>
            <a:r>
              <a:rPr lang="en-US" dirty="0" smtClean="0"/>
              <a:t>) to help with dietary filtering.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0482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3. Staff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This is the </a:t>
            </a:r>
            <a:r>
              <a:rPr lang="en-US" b="1" dirty="0" smtClean="0"/>
              <a:t>human resources</a:t>
            </a:r>
            <a:r>
              <a:rPr lang="en-US" dirty="0" smtClean="0"/>
              <a:t> component.</a:t>
            </a:r>
          </a:p>
          <a:p>
            <a:r>
              <a:rPr lang="en-US" b="1" dirty="0" smtClean="0"/>
              <a:t>Purpose:</a:t>
            </a:r>
            <a:r>
              <a:rPr lang="en-US" dirty="0" smtClean="0"/>
              <a:t> It stores identifying information for employees and defines their specific roles within the restaurant.</a:t>
            </a:r>
          </a:p>
          <a:p>
            <a:r>
              <a:rPr lang="en-US" b="1" dirty="0" smtClean="0"/>
              <a:t>Key Logic:</a:t>
            </a:r>
            <a:r>
              <a:rPr lang="en-US" dirty="0" smtClean="0"/>
              <a:t> It automatically records the </a:t>
            </a:r>
            <a:r>
              <a:rPr lang="en-US" dirty="0" err="1" smtClean="0"/>
              <a:t>hire_date</a:t>
            </a:r>
            <a:r>
              <a:rPr lang="en-US" dirty="0" smtClean="0"/>
              <a:t> if not specified and ensures phone numbers are unique to prevent duplicate entries.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8661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4. Orders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This is the </a:t>
            </a:r>
            <a:r>
              <a:rPr lang="en-US" b="1" dirty="0" smtClean="0"/>
              <a:t>transactional hub</a:t>
            </a:r>
            <a:r>
              <a:rPr lang="en-US" dirty="0" smtClean="0"/>
              <a:t> that connects all other tables.</a:t>
            </a:r>
          </a:p>
          <a:p>
            <a:r>
              <a:rPr lang="en-US" b="1" dirty="0" smtClean="0"/>
              <a:t>Purpose:</a:t>
            </a:r>
            <a:r>
              <a:rPr lang="en-US" dirty="0" smtClean="0"/>
              <a:t> It records which customer (at a </a:t>
            </a:r>
            <a:r>
              <a:rPr lang="en-US" b="1" dirty="0" smtClean="0"/>
              <a:t>Table</a:t>
            </a:r>
            <a:r>
              <a:rPr lang="en-US" dirty="0" smtClean="0"/>
              <a:t>) ordered what food (</a:t>
            </a:r>
            <a:r>
              <a:rPr lang="en-US" b="1" dirty="0" smtClean="0"/>
              <a:t>Menu</a:t>
            </a:r>
            <a:r>
              <a:rPr lang="en-US" dirty="0" smtClean="0"/>
              <a:t> item) and which employee (</a:t>
            </a:r>
            <a:r>
              <a:rPr lang="en-US" b="1" dirty="0" smtClean="0"/>
              <a:t>Staff</a:t>
            </a:r>
            <a:r>
              <a:rPr lang="en-US" dirty="0" smtClean="0"/>
              <a:t>) handled the request.</a:t>
            </a:r>
          </a:p>
          <a:p>
            <a:r>
              <a:rPr lang="en-US" b="1" dirty="0" smtClean="0"/>
              <a:t>Key Logic:</a:t>
            </a:r>
            <a:r>
              <a:rPr lang="en-US" dirty="0" smtClean="0"/>
              <a:t> It uses </a:t>
            </a:r>
            <a:r>
              <a:rPr lang="en-US" b="1" dirty="0" smtClean="0"/>
              <a:t>Foreign Keys</a:t>
            </a:r>
            <a:r>
              <a:rPr lang="en-US" dirty="0" smtClean="0"/>
              <a:t> to link to the other three tables. This ensures "Referential Integrity"—for example, you cannot place an order for a menu item that doesn't exist.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484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EER Diagram</a:t>
            </a:r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556792"/>
            <a:ext cx="6908116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3042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1. Tables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CREATE TABLE Tables (   </a:t>
            </a:r>
          </a:p>
          <a:p>
            <a:pPr marL="0" indent="0">
              <a:buNone/>
            </a:pPr>
            <a:r>
              <a:rPr lang="en-US" sz="1800" dirty="0" err="1" smtClean="0"/>
              <a:t>table_id</a:t>
            </a:r>
            <a:r>
              <a:rPr lang="en-US" sz="1800" dirty="0" smtClean="0"/>
              <a:t> INT PRIMARY KEY,   </a:t>
            </a:r>
          </a:p>
          <a:p>
            <a:pPr marL="0" indent="0">
              <a:buNone/>
            </a:pPr>
            <a:r>
              <a:rPr lang="en-US" sz="1800" dirty="0" err="1" smtClean="0"/>
              <a:t>table_number</a:t>
            </a:r>
            <a:r>
              <a:rPr lang="en-US" sz="1800" dirty="0" smtClean="0"/>
              <a:t> VARCHAR(10) UNIQUE NOT NULL, </a:t>
            </a:r>
          </a:p>
          <a:p>
            <a:pPr marL="0" indent="0">
              <a:buNone/>
            </a:pPr>
            <a:r>
              <a:rPr lang="en-US" sz="1800" dirty="0" smtClean="0"/>
              <a:t>capacity INT CHECK (capacity &gt; 0 AND capacity &lt;= 12), </a:t>
            </a:r>
          </a:p>
          <a:p>
            <a:pPr marL="0" indent="0">
              <a:buNone/>
            </a:pPr>
            <a:r>
              <a:rPr lang="en-US" sz="1800" dirty="0" smtClean="0"/>
              <a:t>status VARCHAR(20) DEFAULT 'Available' CHECK (status IN ('Available', 'Occupied', 'Reserved', 'Cleaning')));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861048"/>
            <a:ext cx="2847975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7675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2. Menu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IN" sz="1800" dirty="0" smtClean="0"/>
              <a:t>CREATE TABLE Menu ( </a:t>
            </a:r>
          </a:p>
          <a:p>
            <a:pPr marL="0" indent="0">
              <a:buNone/>
            </a:pPr>
            <a:r>
              <a:rPr lang="en-IN" sz="1800" dirty="0" err="1" smtClean="0"/>
              <a:t>item_id</a:t>
            </a:r>
            <a:r>
              <a:rPr lang="en-IN" sz="1800" dirty="0" smtClean="0"/>
              <a:t> INT PRIMARY KEY, </a:t>
            </a:r>
          </a:p>
          <a:p>
            <a:pPr marL="0" indent="0">
              <a:buNone/>
            </a:pPr>
            <a:r>
              <a:rPr lang="en-IN" sz="1800" dirty="0" err="1" smtClean="0"/>
              <a:t>item_name</a:t>
            </a:r>
            <a:r>
              <a:rPr lang="en-IN" sz="1800" dirty="0" smtClean="0"/>
              <a:t> VARCHAR(100) UNIQUE NOT NULL, </a:t>
            </a:r>
          </a:p>
          <a:p>
            <a:pPr marL="0" indent="0">
              <a:buNone/>
            </a:pPr>
            <a:r>
              <a:rPr lang="en-IN" sz="1800" dirty="0" smtClean="0"/>
              <a:t>category VARCHAR(50) DEFAULT 'Main Course' CHECK (category IN ('Appetizer', 'Main Course', 'Dessert', 'Beverage')), </a:t>
            </a:r>
          </a:p>
          <a:p>
            <a:pPr marL="0" indent="0">
              <a:buNone/>
            </a:pPr>
            <a:r>
              <a:rPr lang="en-IN" sz="1800" dirty="0" smtClean="0"/>
              <a:t>price DECIMAL(10, 2) NOT NULL CHECK (price &gt; 0),</a:t>
            </a:r>
          </a:p>
          <a:p>
            <a:pPr marL="0" indent="0">
              <a:buNone/>
            </a:pPr>
            <a:r>
              <a:rPr lang="en-IN" sz="1800" dirty="0" err="1" smtClean="0"/>
              <a:t>is_vegetarian</a:t>
            </a:r>
            <a:r>
              <a:rPr lang="en-IN" sz="1800" dirty="0" smtClean="0"/>
              <a:t> BOOLEAN DEFAULT FALSE);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861048"/>
            <a:ext cx="3838575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2960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3. Staff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 smtClean="0"/>
              <a:t>CREATE TABLE Staff ( </a:t>
            </a:r>
          </a:p>
          <a:p>
            <a:pPr marL="0" indent="0">
              <a:buNone/>
            </a:pPr>
            <a:r>
              <a:rPr lang="en-IN" sz="1800" dirty="0" err="1" smtClean="0"/>
              <a:t>staff_id</a:t>
            </a:r>
            <a:r>
              <a:rPr lang="en-IN" sz="1800" dirty="0" smtClean="0"/>
              <a:t> INT PRIMARY KEY, </a:t>
            </a:r>
          </a:p>
          <a:p>
            <a:pPr marL="0" indent="0">
              <a:buNone/>
            </a:pPr>
            <a:r>
              <a:rPr lang="en-IN" sz="1800" dirty="0" err="1" smtClean="0"/>
              <a:t>first_name</a:t>
            </a:r>
            <a:r>
              <a:rPr lang="en-IN" sz="1800" dirty="0" smtClean="0"/>
              <a:t> VARCHAR(50) NOT NULL, </a:t>
            </a:r>
          </a:p>
          <a:p>
            <a:pPr marL="0" indent="0">
              <a:buNone/>
            </a:pPr>
            <a:r>
              <a:rPr lang="en-IN" sz="1800" dirty="0" err="1" smtClean="0"/>
              <a:t>last_name</a:t>
            </a:r>
            <a:r>
              <a:rPr lang="en-IN" sz="1800" dirty="0" smtClean="0"/>
              <a:t> VARCHAR(50) NOT NULL, </a:t>
            </a:r>
          </a:p>
          <a:p>
            <a:pPr marL="0" indent="0">
              <a:buNone/>
            </a:pPr>
            <a:r>
              <a:rPr lang="en-IN" sz="1800" dirty="0" smtClean="0"/>
              <a:t>role VARCHAR(30) CHECK (role IN ('Manager', 'Waiter', 'Chef', 'Host')),</a:t>
            </a:r>
          </a:p>
          <a:p>
            <a:pPr marL="0" indent="0">
              <a:buNone/>
            </a:pPr>
            <a:r>
              <a:rPr lang="en-IN" sz="1800" dirty="0" smtClean="0"/>
              <a:t>phone VARCHAR(15) UNIQUE,</a:t>
            </a:r>
          </a:p>
          <a:p>
            <a:pPr marL="0" indent="0">
              <a:buNone/>
            </a:pPr>
            <a:r>
              <a:rPr lang="en-IN" sz="1800" dirty="0" err="1" smtClean="0"/>
              <a:t>hire_date</a:t>
            </a:r>
            <a:r>
              <a:rPr lang="en-IN" sz="1800" dirty="0" smtClean="0"/>
              <a:t> DATE DEFAULT (CURRENT_DATE));</a:t>
            </a:r>
            <a:endParaRPr lang="en-IN" sz="1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933056"/>
            <a:ext cx="4114800" cy="249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325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4. Orders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800" dirty="0" smtClean="0"/>
              <a:t>CREATE TABLE Orders ( </a:t>
            </a:r>
          </a:p>
          <a:p>
            <a:pPr marL="0" indent="0">
              <a:buNone/>
            </a:pPr>
            <a:r>
              <a:rPr lang="en-IN" sz="1800" dirty="0" err="1" smtClean="0"/>
              <a:t>order_id</a:t>
            </a:r>
            <a:r>
              <a:rPr lang="en-IN" sz="1800" dirty="0" smtClean="0"/>
              <a:t> INT PRIMARY KEY,</a:t>
            </a:r>
          </a:p>
          <a:p>
            <a:pPr marL="0" indent="0">
              <a:buNone/>
            </a:pPr>
            <a:r>
              <a:rPr lang="en-IN" sz="1800" dirty="0" err="1" smtClean="0"/>
              <a:t>table_id</a:t>
            </a:r>
            <a:r>
              <a:rPr lang="en-IN" sz="1800" dirty="0" smtClean="0"/>
              <a:t> INT NOT NULL,</a:t>
            </a:r>
          </a:p>
          <a:p>
            <a:pPr marL="0" indent="0">
              <a:buNone/>
            </a:pPr>
            <a:r>
              <a:rPr lang="en-IN" sz="1800" dirty="0" err="1" smtClean="0"/>
              <a:t>staff_id</a:t>
            </a:r>
            <a:r>
              <a:rPr lang="en-IN" sz="1800" dirty="0" smtClean="0"/>
              <a:t> INT NOT NULL,</a:t>
            </a:r>
          </a:p>
          <a:p>
            <a:pPr marL="0" indent="0">
              <a:buNone/>
            </a:pPr>
            <a:r>
              <a:rPr lang="en-IN" sz="1800" dirty="0" err="1" smtClean="0"/>
              <a:t>item_id</a:t>
            </a:r>
            <a:r>
              <a:rPr lang="en-IN" sz="1800" dirty="0" smtClean="0"/>
              <a:t> INT NOT NULL,</a:t>
            </a:r>
          </a:p>
          <a:p>
            <a:pPr marL="0" indent="0">
              <a:buNone/>
            </a:pPr>
            <a:r>
              <a:rPr lang="en-IN" sz="1800" dirty="0" err="1" smtClean="0"/>
              <a:t>order_time</a:t>
            </a:r>
            <a:r>
              <a:rPr lang="en-IN" sz="1800" dirty="0" smtClean="0"/>
              <a:t> TIMESTAMP DEFAULT CURRENT_TIMESTAMP,</a:t>
            </a:r>
          </a:p>
          <a:p>
            <a:pPr marL="0" indent="0">
              <a:buNone/>
            </a:pPr>
            <a:r>
              <a:rPr lang="en-IN" sz="1800" dirty="0" smtClean="0"/>
              <a:t>quantity INT DEFAULT 1 CHECK (quantity &gt;= 1),</a:t>
            </a:r>
          </a:p>
          <a:p>
            <a:pPr marL="0" indent="0">
              <a:buNone/>
            </a:pPr>
            <a:r>
              <a:rPr lang="en-IN" sz="1800" dirty="0" err="1" smtClean="0"/>
              <a:t>special_notes</a:t>
            </a:r>
            <a:r>
              <a:rPr lang="en-IN" sz="1800" dirty="0" smtClean="0"/>
              <a:t> VARCHAR(255),</a:t>
            </a:r>
          </a:p>
          <a:p>
            <a:pPr marL="0" indent="0">
              <a:buNone/>
            </a:pPr>
            <a:r>
              <a:rPr lang="en-IN" sz="1800" dirty="0" smtClean="0"/>
              <a:t>FOREIGN KEY (</a:t>
            </a:r>
            <a:r>
              <a:rPr lang="en-IN" sz="1800" dirty="0" err="1" smtClean="0"/>
              <a:t>table_id</a:t>
            </a:r>
            <a:r>
              <a:rPr lang="en-IN" sz="1800" dirty="0" smtClean="0"/>
              <a:t>) REFERENCES Tables(</a:t>
            </a:r>
            <a:r>
              <a:rPr lang="en-IN" sz="1800" dirty="0" err="1" smtClean="0"/>
              <a:t>table_id</a:t>
            </a:r>
            <a:r>
              <a:rPr lang="en-IN" sz="1800" dirty="0" smtClean="0"/>
              <a:t>),</a:t>
            </a:r>
          </a:p>
          <a:p>
            <a:pPr marL="0" indent="0">
              <a:buNone/>
            </a:pPr>
            <a:r>
              <a:rPr lang="en-IN" sz="1800" dirty="0" smtClean="0"/>
              <a:t>FOREIGN KEY (</a:t>
            </a:r>
            <a:r>
              <a:rPr lang="en-IN" sz="1800" dirty="0" err="1" smtClean="0"/>
              <a:t>staff_id</a:t>
            </a:r>
            <a:r>
              <a:rPr lang="en-IN" sz="1800" dirty="0" smtClean="0"/>
              <a:t>) REFERENCES Staff(</a:t>
            </a:r>
            <a:r>
              <a:rPr lang="en-IN" sz="1800" dirty="0" err="1" smtClean="0"/>
              <a:t>staff_id</a:t>
            </a:r>
            <a:r>
              <a:rPr lang="en-IN" sz="1800" dirty="0" smtClean="0"/>
              <a:t>),</a:t>
            </a:r>
          </a:p>
          <a:p>
            <a:pPr marL="0" indent="0">
              <a:buNone/>
            </a:pPr>
            <a:r>
              <a:rPr lang="en-IN" sz="1800" dirty="0" smtClean="0"/>
              <a:t>FOREIGN KEY (</a:t>
            </a:r>
            <a:r>
              <a:rPr lang="en-IN" sz="1800" dirty="0" err="1" smtClean="0"/>
              <a:t>item_id</a:t>
            </a:r>
            <a:r>
              <a:rPr lang="en-IN" sz="1800" dirty="0" smtClean="0"/>
              <a:t>) REFERENCES Menu(</a:t>
            </a:r>
            <a:r>
              <a:rPr lang="en-IN" sz="1800" dirty="0" err="1" smtClean="0"/>
              <a:t>item_id</a:t>
            </a:r>
            <a:r>
              <a:rPr lang="en-IN" sz="1800" dirty="0" smtClean="0"/>
              <a:t>));</a:t>
            </a:r>
            <a:endParaRPr lang="en-IN" sz="1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3869680"/>
            <a:ext cx="3310533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8985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Display all menu items but rename the columns as </a:t>
            </a:r>
            <a:r>
              <a:rPr lang="en-US" dirty="0" err="1" smtClean="0"/>
              <a:t>Food_Item</a:t>
            </a:r>
            <a:r>
              <a:rPr lang="en-US" dirty="0" smtClean="0"/>
              <a:t> and Rate.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select </a:t>
            </a:r>
            <a:r>
              <a:rPr lang="en-US" sz="2000" dirty="0" err="1" smtClean="0"/>
              <a:t>item_id</a:t>
            </a:r>
            <a:r>
              <a:rPr lang="en-US" sz="2000" dirty="0" smtClean="0"/>
              <a:t>, </a:t>
            </a:r>
            <a:r>
              <a:rPr lang="en-US" sz="2000" dirty="0" err="1" smtClean="0"/>
              <a:t>item_name</a:t>
            </a:r>
            <a:r>
              <a:rPr lang="en-US" sz="2000" dirty="0" smtClean="0"/>
              <a:t> as </a:t>
            </a:r>
            <a:r>
              <a:rPr lang="en-US" sz="2000" dirty="0" err="1" smtClean="0"/>
              <a:t>Food_item</a:t>
            </a:r>
            <a:r>
              <a:rPr lang="en-US" sz="2000" dirty="0" smtClean="0"/>
              <a:t>, price as rate from menu;</a:t>
            </a:r>
            <a:endParaRPr lang="en-IN" sz="2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717032"/>
            <a:ext cx="5222502" cy="22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7613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Find all menu items that belong to the 'Appetizer' category and cost less than 15.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select * from menu where category="Appetizer" and price&lt;15</a:t>
            </a:r>
            <a:r>
              <a:rPr lang="en-US" sz="2400" dirty="0" smtClean="0"/>
              <a:t>;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713" y="2890838"/>
            <a:ext cx="4511575" cy="1834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269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List all staff members who are either 'Managers' or 'Chefs'.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select * from staff where role="Manager" or role="chef";</a:t>
            </a:r>
            <a:endParaRPr lang="en-IN" sz="20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552" y="3717032"/>
            <a:ext cx="4905375" cy="230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5427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Find all orders placed where the quantity is between 2 and 5.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92727" y="1659632"/>
            <a:ext cx="7924800" cy="41148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select * from orders where quantity between 2 and 5;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9077" y="3717032"/>
            <a:ext cx="5372100" cy="280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8028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List all staff members whose last name starts with the letter 'S'.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select * from staff where </a:t>
            </a:r>
            <a:r>
              <a:rPr lang="en-US" sz="2000" dirty="0" err="1" smtClean="0"/>
              <a:t>last_name</a:t>
            </a:r>
            <a:r>
              <a:rPr lang="en-US" sz="2000" dirty="0" smtClean="0"/>
              <a:t> like "S%";</a:t>
            </a:r>
            <a:endParaRPr lang="en-IN" sz="20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924" y="2924174"/>
            <a:ext cx="4860379" cy="2016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1467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List the menu items from the most expensive to the cheapest.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select </a:t>
            </a:r>
            <a:r>
              <a:rPr lang="en-US" sz="2000" dirty="0" err="1" smtClean="0"/>
              <a:t>item_name,price</a:t>
            </a:r>
            <a:r>
              <a:rPr lang="en-US" sz="2000" dirty="0" smtClean="0"/>
              <a:t> from menu order by price </a:t>
            </a:r>
            <a:r>
              <a:rPr lang="en-US" sz="2000" dirty="0" err="1" smtClean="0"/>
              <a:t>desc</a:t>
            </a:r>
            <a:r>
              <a:rPr lang="en-US" sz="2000" dirty="0" smtClean="0"/>
              <a:t>;</a:t>
            </a:r>
            <a:endParaRPr lang="en-IN" sz="20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224" y="2314574"/>
            <a:ext cx="2450951" cy="3346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2406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List categories that have more than 3 items assigned to them.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select category, count(category) from menu group by category having count(category)&gt;3</a:t>
            </a:r>
            <a:r>
              <a:rPr lang="en-US" dirty="0" smtClean="0"/>
              <a:t>;</a:t>
            </a:r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3573016"/>
            <a:ext cx="3480023" cy="1490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840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Display the </a:t>
            </a:r>
            <a:r>
              <a:rPr lang="en-US" dirty="0" err="1" smtClean="0"/>
              <a:t>order_id</a:t>
            </a:r>
            <a:r>
              <a:rPr lang="en-US" dirty="0" smtClean="0"/>
              <a:t>, </a:t>
            </a:r>
            <a:r>
              <a:rPr lang="en-US" dirty="0" err="1" smtClean="0"/>
              <a:t>item_name</a:t>
            </a:r>
            <a:r>
              <a:rPr lang="en-US" dirty="0" smtClean="0"/>
              <a:t>, and quantity for every order.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 smtClean="0"/>
              <a:t>select </a:t>
            </a:r>
            <a:r>
              <a:rPr lang="en-IN" sz="2000" dirty="0" err="1" smtClean="0"/>
              <a:t>o.order_id,m.item_id,o.quantity</a:t>
            </a:r>
            <a:r>
              <a:rPr lang="en-IN" sz="2000" dirty="0" smtClean="0"/>
              <a:t> from orders </a:t>
            </a:r>
            <a:r>
              <a:rPr lang="en-IN" sz="2000" dirty="0" err="1" smtClean="0"/>
              <a:t>oinner</a:t>
            </a:r>
            <a:r>
              <a:rPr lang="en-IN" sz="2000" dirty="0" smtClean="0"/>
              <a:t> join menu m on </a:t>
            </a:r>
            <a:r>
              <a:rPr lang="en-IN" sz="2000" dirty="0" err="1" smtClean="0"/>
              <a:t>o.item_id</a:t>
            </a:r>
            <a:r>
              <a:rPr lang="en-IN" sz="2000" dirty="0" smtClean="0"/>
              <a:t>=</a:t>
            </a:r>
            <a:r>
              <a:rPr lang="en-IN" sz="2000" dirty="0" err="1" smtClean="0"/>
              <a:t>m.item_id</a:t>
            </a:r>
            <a:r>
              <a:rPr lang="en-IN" sz="2000" dirty="0" smtClean="0"/>
              <a:t>;</a:t>
            </a:r>
            <a:endParaRPr lang="en-IN" sz="200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924943"/>
            <a:ext cx="2991966" cy="3624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3261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List all orders showing the </a:t>
            </a:r>
            <a:r>
              <a:rPr lang="en-US" dirty="0" err="1" smtClean="0"/>
              <a:t>table_number</a:t>
            </a:r>
            <a:r>
              <a:rPr lang="en-US" dirty="0" smtClean="0"/>
              <a:t>, the </a:t>
            </a:r>
            <a:r>
              <a:rPr lang="en-US" dirty="0" err="1" smtClean="0"/>
              <a:t>waiter_name</a:t>
            </a:r>
            <a:r>
              <a:rPr lang="en-US" dirty="0" smtClean="0"/>
              <a:t> (staff), and the </a:t>
            </a:r>
            <a:r>
              <a:rPr lang="en-US" dirty="0" err="1" smtClean="0"/>
              <a:t>item_name</a:t>
            </a:r>
            <a:r>
              <a:rPr lang="en-US" dirty="0" smtClean="0"/>
              <a:t>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r>
              <a:rPr lang="en-IN" sz="2000" dirty="0" smtClean="0"/>
              <a:t>select </a:t>
            </a:r>
            <a:r>
              <a:rPr lang="en-IN" sz="2000" dirty="0" err="1" smtClean="0"/>
              <a:t>t.table_number</a:t>
            </a:r>
            <a:r>
              <a:rPr lang="en-IN" sz="2000" dirty="0" smtClean="0"/>
              <a:t>, </a:t>
            </a:r>
            <a:r>
              <a:rPr lang="en-IN" sz="2000" dirty="0" err="1" smtClean="0"/>
              <a:t>concat</a:t>
            </a:r>
            <a:r>
              <a:rPr lang="en-IN" sz="2000" dirty="0" smtClean="0"/>
              <a:t>(</a:t>
            </a:r>
            <a:r>
              <a:rPr lang="en-IN" sz="2000" dirty="0" err="1" smtClean="0"/>
              <a:t>s.first_name</a:t>
            </a:r>
            <a:r>
              <a:rPr lang="en-IN" sz="2000" dirty="0" smtClean="0"/>
              <a:t>," ",</a:t>
            </a:r>
            <a:r>
              <a:rPr lang="en-IN" sz="2000" dirty="0" err="1" smtClean="0"/>
              <a:t>s.last_name</a:t>
            </a:r>
            <a:r>
              <a:rPr lang="en-IN" sz="2000" dirty="0" smtClean="0"/>
              <a:t>) as </a:t>
            </a:r>
            <a:r>
              <a:rPr lang="en-IN" sz="2000" dirty="0" err="1" smtClean="0"/>
              <a:t>Waiter_name</a:t>
            </a:r>
            <a:r>
              <a:rPr lang="en-IN" sz="2000" dirty="0" smtClean="0"/>
              <a:t>, </a:t>
            </a:r>
            <a:r>
              <a:rPr lang="en-IN" sz="2000" dirty="0" err="1" smtClean="0"/>
              <a:t>m.item_name</a:t>
            </a:r>
            <a:r>
              <a:rPr lang="en-IN" sz="2000" dirty="0" smtClean="0"/>
              <a:t> from orders </a:t>
            </a:r>
            <a:r>
              <a:rPr lang="en-IN" sz="2000" dirty="0" err="1" smtClean="0"/>
              <a:t>oinner</a:t>
            </a:r>
            <a:r>
              <a:rPr lang="en-IN" sz="2000" dirty="0" smtClean="0"/>
              <a:t> join tables t on </a:t>
            </a:r>
            <a:r>
              <a:rPr lang="en-IN" sz="2000" dirty="0" err="1" smtClean="0"/>
              <a:t>o.table_id</a:t>
            </a:r>
            <a:r>
              <a:rPr lang="en-IN" sz="2000" dirty="0" smtClean="0"/>
              <a:t>=</a:t>
            </a:r>
            <a:r>
              <a:rPr lang="en-IN" sz="2000" dirty="0" err="1" smtClean="0"/>
              <a:t>T.table_idinner</a:t>
            </a:r>
            <a:r>
              <a:rPr lang="en-IN" sz="2000" dirty="0" smtClean="0"/>
              <a:t> join staff s on </a:t>
            </a:r>
            <a:r>
              <a:rPr lang="en-IN" sz="2000" dirty="0" err="1" smtClean="0"/>
              <a:t>o.staff_id</a:t>
            </a:r>
            <a:r>
              <a:rPr lang="en-IN" sz="2000" dirty="0" smtClean="0"/>
              <a:t>=</a:t>
            </a:r>
            <a:r>
              <a:rPr lang="en-IN" sz="2000" dirty="0" err="1" smtClean="0"/>
              <a:t>s.staff_idinner</a:t>
            </a:r>
            <a:r>
              <a:rPr lang="en-IN" sz="2000" dirty="0" smtClean="0"/>
              <a:t> join menu m on </a:t>
            </a:r>
            <a:r>
              <a:rPr lang="en-IN" sz="2000" dirty="0" err="1" smtClean="0"/>
              <a:t>o.item_id</a:t>
            </a:r>
            <a:r>
              <a:rPr lang="en-IN" sz="2000" dirty="0" smtClean="0"/>
              <a:t>=</a:t>
            </a:r>
            <a:r>
              <a:rPr lang="en-IN" sz="2000" dirty="0" err="1" smtClean="0"/>
              <a:t>m.item_id</a:t>
            </a:r>
            <a:r>
              <a:rPr lang="en-IN" sz="2000" dirty="0" smtClean="0"/>
              <a:t>;</a:t>
            </a:r>
            <a:endParaRPr lang="en-IN" sz="20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3284984"/>
            <a:ext cx="3613373" cy="2895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4067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Display all tables and the orders assigned to them (including tables that have no orders).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000" dirty="0" smtClean="0"/>
              <a:t>select </a:t>
            </a:r>
            <a:r>
              <a:rPr lang="en-US" sz="2000" dirty="0" err="1" smtClean="0"/>
              <a:t>t.table_number</a:t>
            </a:r>
            <a:r>
              <a:rPr lang="en-US" sz="2000" dirty="0" smtClean="0"/>
              <a:t>, </a:t>
            </a:r>
            <a:r>
              <a:rPr lang="en-US" sz="2000" dirty="0" err="1" smtClean="0"/>
              <a:t>o.order_id</a:t>
            </a:r>
            <a:r>
              <a:rPr lang="en-US" sz="2000" dirty="0" smtClean="0"/>
              <a:t> from tables </a:t>
            </a:r>
            <a:r>
              <a:rPr lang="en-US" sz="2000" dirty="0" err="1" smtClean="0"/>
              <a:t>tleft</a:t>
            </a:r>
            <a:r>
              <a:rPr lang="en-US" sz="2000" dirty="0" smtClean="0"/>
              <a:t> join orders o on </a:t>
            </a:r>
            <a:r>
              <a:rPr lang="en-US" sz="2000" dirty="0" err="1" smtClean="0"/>
              <a:t>o.table_id</a:t>
            </a:r>
            <a:r>
              <a:rPr lang="en-US" sz="2000" dirty="0" smtClean="0"/>
              <a:t>=</a:t>
            </a:r>
            <a:r>
              <a:rPr lang="en-US" sz="2000" dirty="0" err="1" smtClean="0"/>
              <a:t>t.table_id</a:t>
            </a:r>
            <a:r>
              <a:rPr lang="en-US" dirty="0" smtClean="0"/>
              <a:t>;</a:t>
            </a:r>
            <a:endParaRPr lang="en-IN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356992"/>
            <a:ext cx="2526580" cy="2957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1922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Find the names of staff members who have handled orders for 'Table 15'.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SELECT </a:t>
            </a:r>
            <a:r>
              <a:rPr lang="en-US" dirty="0" err="1" smtClean="0"/>
              <a:t>first_name</a:t>
            </a:r>
            <a:r>
              <a:rPr lang="en-US" dirty="0" smtClean="0"/>
              <a:t>, </a:t>
            </a:r>
            <a:r>
              <a:rPr lang="en-US" dirty="0" err="1" smtClean="0"/>
              <a:t>last_name</a:t>
            </a:r>
            <a:r>
              <a:rPr lang="en-US" dirty="0" smtClean="0"/>
              <a:t> FROM Staff WHERE </a:t>
            </a:r>
            <a:r>
              <a:rPr lang="en-US" dirty="0" err="1" smtClean="0"/>
              <a:t>staff_id</a:t>
            </a:r>
            <a:r>
              <a:rPr lang="en-US" dirty="0" smtClean="0"/>
              <a:t> IN (SELECT </a:t>
            </a:r>
            <a:r>
              <a:rPr lang="en-US" dirty="0" err="1" smtClean="0"/>
              <a:t>staff_id</a:t>
            </a:r>
            <a:r>
              <a:rPr lang="en-US" dirty="0" smtClean="0"/>
              <a:t> FROM Orders WHERE </a:t>
            </a:r>
            <a:r>
              <a:rPr lang="en-US" dirty="0" err="1" smtClean="0"/>
              <a:t>table_id</a:t>
            </a:r>
            <a:r>
              <a:rPr lang="en-US" dirty="0" smtClean="0"/>
              <a:t> = 15);</a:t>
            </a:r>
            <a:endParaRPr lang="en-IN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717032"/>
            <a:ext cx="3025874" cy="2180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0401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For each order, display the item name and how much its price deviates from the average menu price.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000" dirty="0" smtClean="0"/>
              <a:t>SELECT </a:t>
            </a:r>
            <a:r>
              <a:rPr lang="en-US" sz="2000" dirty="0" err="1" smtClean="0"/>
              <a:t>item_name</a:t>
            </a:r>
            <a:r>
              <a:rPr lang="en-US" sz="2000" dirty="0" smtClean="0"/>
              <a:t>, price, price - (SELECT AVG(price) FROM Menu) AS deviation FROM Menu;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933056"/>
            <a:ext cx="5112568" cy="2645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99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94522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509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290</TotalTime>
  <Words>914</Words>
  <Application>Microsoft Office PowerPoint</Application>
  <PresentationFormat>On-screen Show (4:3)</PresentationFormat>
  <Paragraphs>83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Horizon</vt:lpstr>
      <vt:lpstr>Analyzing Data of resturent </vt:lpstr>
      <vt:lpstr>objective</vt:lpstr>
      <vt:lpstr>1. Tables</vt:lpstr>
      <vt:lpstr>2. Menu</vt:lpstr>
      <vt:lpstr>3. Staff</vt:lpstr>
      <vt:lpstr>4. Orders</vt:lpstr>
      <vt:lpstr>EER Diagram</vt:lpstr>
      <vt:lpstr>1. Tables</vt:lpstr>
      <vt:lpstr>2. Menu</vt:lpstr>
      <vt:lpstr>3. Staff</vt:lpstr>
      <vt:lpstr>4. Orders</vt:lpstr>
      <vt:lpstr>Display all menu items but rename the columns as Food_Item and Rate.</vt:lpstr>
      <vt:lpstr>Find all menu items that belong to the 'Appetizer' category and cost less than 15.</vt:lpstr>
      <vt:lpstr>List all staff members who are either 'Managers' or 'Chefs'.</vt:lpstr>
      <vt:lpstr>Find all orders placed where the quantity is between 2 and 5.</vt:lpstr>
      <vt:lpstr>List all staff members whose last name starts with the letter 'S'.</vt:lpstr>
      <vt:lpstr>List the menu items from the most expensive to the cheapest.</vt:lpstr>
      <vt:lpstr>List categories that have more than 3 items assigned to them.</vt:lpstr>
      <vt:lpstr>Display the order_id, item_name, and quantity for every order.</vt:lpstr>
      <vt:lpstr>List all orders showing the table_number, the waiter_name (staff), and the item_name.</vt:lpstr>
      <vt:lpstr>Display all tables and the orders assigned to them (including tables that have no orders).</vt:lpstr>
      <vt:lpstr>Find the names of staff members who have handled orders for 'Table 15'.</vt:lpstr>
      <vt:lpstr>For each order, display the item name and how much its price deviates from the average menu price.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Data of resturent</dc:title>
  <dc:creator>sandhya kapa</dc:creator>
  <cp:lastModifiedBy>sandhya kapa</cp:lastModifiedBy>
  <cp:revision>12</cp:revision>
  <dcterms:created xsi:type="dcterms:W3CDTF">2026-04-13T13:55:03Z</dcterms:created>
  <dcterms:modified xsi:type="dcterms:W3CDTF">2026-04-14T13:53:40Z</dcterms:modified>
</cp:coreProperties>
</file>